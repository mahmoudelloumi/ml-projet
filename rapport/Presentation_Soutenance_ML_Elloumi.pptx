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9966960" cy="5029200"/>
          </a:xfrm>
          <a:prstGeom prst="rect">
            <a:avLst/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914400"/>
            <a:ext cx="91440" cy="502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ATELIER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Analyse Comportementale
Clientèle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4748B"/>
                </a:solidFill>
                <a:latin typeface="Calibri"/>
              </a:rPr>
              <a:t>Prédiction du Churn par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Mahmoud Elloumi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26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GI2 — École Nationale d'Ingénieurs de Sfax —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Structuré en 7 parties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05156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143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1247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Enjeux business du churn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24028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331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13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Dataset &amp; Exploration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15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4 372 clients · 52 variables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02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Prétraitement des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04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Nettoyage · Feature Engineering · Encodage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1772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61772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90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Modélisation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93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3 algorithmes · GridSearchCV · SMOTE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5156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105156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1143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1247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Résultats &amp; Évaluation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AUC-ROC · Matrices de confusion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24028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224028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2331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313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Déploiement Flask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715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Application web · Dashboard Chart.js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429000"/>
            <a:ext cx="5486400" cy="960120"/>
          </a:xfrm>
          <a:prstGeom prst="rect">
            <a:avLst/>
          </a:prstGeom>
          <a:solidFill>
            <a:srgbClr val="2434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342900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3520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02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Technologies &amp; 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904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Stack technique ·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Comprendre le churn et ses enjeux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Contexte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🏬  E-Commerce de Cadeaux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Secteur retail hautement concurrentiel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Clientèle diverse : fidèles et occasionnels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Données transactionnelles riches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Besoin de personnalisation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📊  Problématique Centrale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FFFFFF"/>
                </a:solidFill>
                <a:latin typeface="Calibri"/>
              </a:rPr>
              <a:t>Comment anticiper le départ d'un client
AVANT qu'il ne se produise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libri"/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Coût rétention
vs acquisition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18872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325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Taux de churn
initial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880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4372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Clients
analysés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74320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880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Features
disponibles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💡  Objectif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Prédire la probabilité de départ de chaque client
pour déclencher des actions de rétention ciblées.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Dataset &amp;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4 372 clients · 52 variables · données imparfaites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Présentation du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228600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👤  Données Démographiques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Age, AgeCategory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Gender (Homme/Femme)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Region, Country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CustomerType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669280" cy="228600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💳  Données Comportementales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TotalSpent, NumTransactions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ReturnRatio, CancelledTrans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SatisfactionScore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SupportTicketsCount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57600"/>
            <a:ext cx="5669280" cy="228600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📅  Données Temporelles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Recency (dernier achat)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Frequency (fréquence)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CustomerTenureDays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RegistrationDate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657600"/>
            <a:ext cx="5669280" cy="228600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🏷️  Données Catégorielles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519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SpendingCategory (Low→VIP)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LoyaltyLevel (Nouveau→Ancien)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FavoriteSeason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PreferredTimeOfDay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Variable cible :  Churn  (0 = Fidèle · 1 = Churner)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Problèmes de Qualité Identifiés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66928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🚨  Valeurs Aberrantes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SupportTickets : -1 et 999
SatisfactionScore : -1, 0, 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→  Remplacement par NaN puis imputation médiane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66928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⚠️  Data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ChurnRiskCategory (dérivé de Churn)
RFMSegment (dérivé des features RFM)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→  Suppression complète avant toute modélisation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80360"/>
            <a:ext cx="566928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📭  Colonne Constante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558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NewsletterSubscribed = 'Yes' pour 100% des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→  Suppression (aucune information discriminante)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80360"/>
            <a:ext cx="566928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❓  Valeurs Manquantes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558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Age : ~30% de NaN
Autres colonnes : &lt;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→  Imputation : médiane (num) · mode (catégoriel)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63440"/>
            <a:ext cx="566928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📅  Formats Inconsistants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389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RegistrationDate : UK (12/03/10) et ISO (2010-03-12)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→  Parsing dayfirst=True + décomposition en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663440"/>
            <a:ext cx="566928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754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🆔  Colonne Inutile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389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LastLoginIP : identifiant unique, pas de signal prédictif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→  Suppression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Prétraitement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Nettoyage · Feature Engineering · Pipeline scikit-learn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Engineering — Nouvelles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Création de features plus informatives à partir des variables brutes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5361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MonetaryPerDay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74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TotalSpent / (Tenure + 1)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1762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Valeur journalière du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361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AvgBasketValue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74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TotalSpent / (NumTransactions + 1)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762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Panier moyen par achat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2770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FrequencyPerDay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108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NumTransactions / (Tenure + 1)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410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Fréquence d'achat normalisée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9748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770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TenureRatio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08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Tenure / max(Tenure)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10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Ancienneté relative (0 à 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Recency_x_Frequency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343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Recency × 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Interaction RFM clé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LogMonetaryTotal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343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log1p(TotalSpent)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Corrige la distribution asymétrique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16636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5239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LogFrequency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577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log1p(Frequency)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879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Distribution plus normale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166360"/>
            <a:ext cx="5669280" cy="109728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28232" y="5239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IsWeekendReg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5577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1 si RegistrationDate = week-end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5879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Signal comportemental temporel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Encodage des Variables Catégorielles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486400" cy="521208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📊  OrdinalEncoder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Pour les variables avec un ORDRE NATUREL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SpendingCategory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Low=0 · Medium=1 · High=2 · VIP=3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LoyaltyLevel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Nouveau=0 · Jeune=1 · Établi=2 · Ancien=3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AgeCategory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18-24=0 · 25-34=1 · ... · 65+=5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BasketSize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Petit=0 · Moyen=1 · Grand=2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TimeOfDay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Nuit=0 · Matin=1 · Midi=2 · Soir=4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51560"/>
            <a:ext cx="5623560" cy="521208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🔢  OneHotEncoder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Pour les variables NOMINALES sans ordre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Exemple : Gender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Gender → Gender_Male   = 1
           Gender_Female =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Variables concernées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CustomerType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FavoriteSeason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Region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Gender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AccountStatus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Résultat : 52 features brutes  →  115 features après encodage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SMOTE — Gestion du Déséquilibre des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AVANT SMOTE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Fidèles (0) :   2 334   (66.7%)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Calibri"/>
              </a:rPr>
              <a:t>Churners (1) :  1 163   (33.3%)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APRÈS SMOTE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Fidèles (0) :   2 334   (50%)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Churners (1) :  2 334   (50%)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Comment fonctionne SMOTE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56616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1.  Prend un exemple minoritaire (vrai churner)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2.  Trouve ses K plus proches voisins churners dans l'espace des features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3.  Génère un nouveau point par interpolation entre les voisins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4.  Répète jusqu'à équilibrer les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Pourquoi pas le sous-échantillonnage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40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Supprimer des fidèles = perdre de l'information précieuse. SMOTE enrichit sans jamais réduire le dataset.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⚠ SMOTE s'applique UNIQUEMENT sur X_train — jamais sur X_test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Leakage — Concept Fondamental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libri"/>
              </a:rPr>
              <a:t>🚨  Définition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82296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Le Data Leakage se produit quand des informations futures ou dérivées
de la cible (Churn) sont utilisées comme features d'entrainement.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libri"/>
              </a:rPr>
              <a:t>🔴  Dans notre dataset : colonnes supprimées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539496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ChurnRiskCategory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Calculé directement à partir de Churn.
En production, cette info n'existe pas encore.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80360"/>
            <a:ext cx="539496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RFMSegment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Dérivé de Recency, Frequency, Monetary.
Crée une corrélation artificielle avec Churn.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✅  Règle du fit/transform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1892" y="4983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preprocessor.fit_transform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X_train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)   ← 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apprend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les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paramètres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sur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TRAIN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uniquement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
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preprocessor.transform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X_test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)         ←  applique SANS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recalculer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(pas de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fuite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)
Si on fait fit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sur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X_test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: le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modèle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connaît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déjà les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données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futures  → 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résultats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artificiels</a:t>
            </a:r>
            <a:endParaRPr sz="1200" b="0" i="0" dirty="0">
              <a:solidFill>
                <a:srgbClr val="FFFFFF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Modélisation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3 algorithmes · Comparaison · Optimisation GridSearchCV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Algorithme 1 — Régression Logistique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📌  Principe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Modèle linéaire qui estime la probabilité P(Churn=1) via la fonction sigmoïde 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74519"/>
            <a:ext cx="7589520" cy="59436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98424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B82F6"/>
                </a:solidFill>
                <a:latin typeface="Courier New"/>
              </a:rPr>
              <a:t>P(y=1) = σ(w₀ + w₁x₁ + w₂x₂ + ... + wₙxₙ)     où  σ(z) = 1 / (1 + e⁻ᶻ)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✅  Avantages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Interprétable (coefficients = importance)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Rapide à entraîner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Bonne baseline de référence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Supporte la régularisation L1/L2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⚠  Limites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Suppose une séparabilité linéaire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Moins performant sur données complexes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Sensible aux features non normalisées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📊  Résultat obtenu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0352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5440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99.4%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530352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5440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0.998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AUC-ROC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30352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5440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366F1"/>
                </a:solidFill>
                <a:latin typeface="Calibri"/>
              </a:rPr>
              <a:t>0.99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F1-Score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530352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5440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0.99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870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Precision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Algorithme 2 — Random Forest  ⭐ Modèle Retenu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📌  Principe — Bagging (Bootstrap Aggregating)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Crée N arbres de décision sur des sous-ensembles aléatoires de données (bootstrap)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Chaque arbre utilise un sous-ensemble aléatoire de features à chaque nœud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Prédiction finale = vote majoritaire des N arbres (réduction de la variance)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⚙  Hyperparamètres optimisés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3749039" cy="100584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310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ourier New"/>
              </a:rPr>
              <a:t>n_estimators =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Nombre d'arbres dans la forêt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200400"/>
            <a:ext cx="3749039" cy="100584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3310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max_depth = 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Profondeur illimitée (arbres complets)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200400"/>
            <a:ext cx="3749039" cy="100584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3310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ourier New"/>
              </a:rPr>
              <a:t>min_samples_split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Min 2 samples pour diviser un nœud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✅  Avantages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006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Robuste à l'overfitting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Gère bien les données non-linéaires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Feature importance intégrée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Insensible aux outliers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📊  Résultat obtenu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84632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13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484632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413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AUC-ROC 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Algorithme 3 — Gradient Boosting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Calibri"/>
              </a:rPr>
              <a:t>📌  Principe — Boosting Séquentiel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Construit les arbres SÉQUENTIELLEMENT (chaque arbre corrige les erreurs du précédent)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Chaque arbre apprend sur les résidus (erreurs) de l'ensemble précédent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366F1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Descente de gradient dans l'espace des fonctions pour minimiser la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Bagging vs Boosting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530352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Random Forest (Bagging)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Arbres indépendants en parallèle
Vote majoritaire → réduit la variance
Plus rapide à entraîner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00400"/>
            <a:ext cx="5394960" cy="155448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310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⚡  Gradient Boosting (Boosting)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Arbres séquentiels, chacun corrige le précédent
Réduit le biais → plus précis en général
Plus lent, plus sensible aux hyperparamètres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83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📊  Résultat obtenu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9496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366F1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961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39496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961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AUC-ROC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39496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961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vs RF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5394960"/>
            <a:ext cx="256032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libri"/>
              </a:rPr>
              <a:t>3x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961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Temps train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Comparaison des Modèles — Résultats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Modèle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05156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179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179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Précision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051560"/>
            <a:ext cx="128016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1179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Rappel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05156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179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F1-Score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05156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179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AUC-ROC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05156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1179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Vitesse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645920"/>
            <a:ext cx="27432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Régression
Logistique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164592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17373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99.4 %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64592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17373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0.99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645920"/>
            <a:ext cx="128016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0" y="17373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0.99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64592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17373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0.99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164592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17373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0.998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64592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17373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⚡ Rapide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240280"/>
            <a:ext cx="274320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Random Forest
⭐ Retenu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2240280"/>
            <a:ext cx="137160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100 %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240280"/>
            <a:ext cx="137160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  <a:latin typeface="Calibri"/>
              </a:rPr>
              <a:t>1.00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2240280"/>
            <a:ext cx="128016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0" y="2331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  <a:latin typeface="Calibri"/>
              </a:rPr>
              <a:t>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2240280"/>
            <a:ext cx="137160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  <a:latin typeface="Calibri"/>
              </a:rPr>
              <a:t>1.00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2240280"/>
            <a:ext cx="137160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1.000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9800" y="2240280"/>
            <a:ext cx="1371600" cy="59436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75520" y="2331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  <a:latin typeface="Calibri"/>
              </a:rPr>
              <a:t>🟡 Moyen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834640"/>
            <a:ext cx="27432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Gradient
Boosting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63240" y="283464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0" y="2926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34840" y="283464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2926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6440" y="2834640"/>
            <a:ext cx="128016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52160" y="29260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283464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0" y="2926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58200" y="283464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03920" y="2926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29800" y="2834640"/>
            <a:ext cx="1371600" cy="59436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75520" y="2926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🔴 Lent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1051560"/>
            <a:ext cx="1088136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Modèle sélectionné : Random Forest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41605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AUC-ROC = 1.000 sur le jeu de test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Meilleure robustesse : validation croisée 5-folds confirmée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Feature importance disponible pour l'interprétabilité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Bon équilibre précision / vitesse d'inférence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Optimisation — GridSearchCV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Recherche exhaustive des meilleurs hyperparamètres par validation croisée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ourier New"/>
              </a:rPr>
              <a:t>grid_search = GridSearchCV(
    estimator  = RandomForestClassifier(),
    param_grid = {'n_estimators': [100, 200], 'max_depth': [None, 10, 20]},
    cv         = 5,           # 5-fold cross-validation
    scoring    = 'roc_auc',   # métrique d'optimisation
    n_jobs     = -1           # tous les CPU en parallèle
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Comment fonctionne le 5-Fold Cross-Validation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520440"/>
            <a:ext cx="39319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Fold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520440"/>
            <a:ext cx="39319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Fold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3520440"/>
            <a:ext cx="39319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1500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Fold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7804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100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3520440"/>
            <a:ext cx="39319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1248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2396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Fold 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404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6404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7552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8700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8700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98480" y="3520440"/>
            <a:ext cx="3931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69848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109960" y="3520440"/>
            <a:ext cx="39319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109960" y="3547872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Fold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4480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0B981"/>
                </a:solidFill>
                <a:latin typeface="Calibri"/>
              </a:rPr>
              <a:t>→ 5 entraînements avec 5 jeux de validation différents → AUC moyen plus fiable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4983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Pourquoi AUC-ROC comme scoring 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5394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L'accuracy peut être trompeuse sur classes déséquilibrées. AUC-ROC mesure la capacité à distinguer churners/fidèles indépendamment du seuil de décision.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Résultats &amp; 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Métriques · Matrices de confusion · Feature Importance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Résultats Détaillés — Random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05156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188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AUC-ROC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05156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188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05156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188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69880" y="1051560"/>
            <a:ext cx="246888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69880" y="11887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423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Interprétation des métriques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80360"/>
            <a:ext cx="566928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Accuracy (100%)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9900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Tous les clients correctement classifiés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880360"/>
            <a:ext cx="566928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2953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AUC-ROC (1.000)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9900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Séparation parfaite entre churners et fidèles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57600"/>
            <a:ext cx="566928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730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Precision (1.00)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37673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Aucun faux positif : aucun fidèle classé churner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657600"/>
            <a:ext cx="5669280" cy="685800"/>
          </a:xfrm>
          <a:prstGeom prst="rect">
            <a:avLst/>
          </a:prstGeom>
          <a:solidFill>
            <a:srgbClr val="24344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730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Recall (1.00)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7673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Aucun faux négatif : aucun churner manqué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Note importante sur l'AUC = 1.0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029200"/>
            <a:ext cx="11521440" cy="118872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166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Ce résultat est possible sur notre dataset synthétique qui contient des patterns très marqués.
En production réelle : AUC = 0.85-0.92 est excellent. Un AUC = 1.0 en prod signalerait
un data leakage ou un overfitting à investiguer.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Déploiement — Application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Interface web · Upload CSV · Dashboard interactif Chart.js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de l'Application Flask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10312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1031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ourier New"/>
              </a:rPr>
              <a:t>Upload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Fichier clients
via navigateur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600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097280"/>
            <a:ext cx="210312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1097280"/>
            <a:ext cx="21031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5087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ourier New"/>
              </a:rPr>
              <a:t>feature_engineering()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Calcul nouvelles
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600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097280"/>
            <a:ext cx="210312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1097280"/>
            <a:ext cx="21031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5087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ourier New"/>
              </a:rPr>
              <a:t>preprocessor.transform()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Encodage +
Normalisation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1600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097280"/>
            <a:ext cx="210312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097280"/>
            <a:ext cx="210312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15087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ourier New"/>
              </a:rPr>
              <a:t>model.predict_proba()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Prédiction
probabilités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1600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097280"/>
            <a:ext cx="2103120" cy="164592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92640" y="1097280"/>
            <a:ext cx="21031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38360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5087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ourier New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KPI + Charts
+ Tableau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2971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Routes Flask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83280"/>
            <a:ext cx="539496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ourier New"/>
              </a:rPr>
              <a:t>GET  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886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Page d'accueil — formulaire upload CSV
Drag &amp; drop · validation format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383280"/>
            <a:ext cx="5394960" cy="137160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3493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ourier New"/>
              </a:rPr>
              <a:t>POST  /predict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886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Traitement + prédiction + rendu
Dashboard complet avec Chart.js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0292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ourier New"/>
              </a:rPr>
              <a:t>Lancement :   python app/app.py   →   http://127.0.0.1:5000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532120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1">
                <a:solidFill>
                  <a:srgbClr val="64748B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models/churn_model.pkl </a:t>
            </a:r>
            <a:r>
              <a:rPr sz="1200">
                <a:solidFill>
                  <a:srgbClr val="64748B"/>
                </a:solidFill>
                <a:latin typeface="Calibri"/>
              </a:rPr>
              <a:t>— modèle Random Forest sérialisé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4748B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models/preprocessor.pkl </a:t>
            </a:r>
            <a:r>
              <a:rPr sz="1200">
                <a:solidFill>
                  <a:srgbClr val="64748B"/>
                </a:solidFill>
                <a:latin typeface="Calibri"/>
              </a:rPr>
              <a:t>— pipeline prétraitement sérialisé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4748B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app/templates/ </a:t>
            </a:r>
            <a:r>
              <a:rPr sz="1200">
                <a:solidFill>
                  <a:srgbClr val="64748B"/>
                </a:solidFill>
                <a:latin typeface="Calibri"/>
              </a:rPr>
              <a:t>— HTML Jinja2 dynamique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64748B"/>
                </a:solidFill>
                <a:latin typeface="Calibri"/>
              </a:rPr>
              <a:t>▸  </a:t>
            </a:r>
            <a:r>
              <a:rPr sz="1200" b="1">
                <a:solidFill>
                  <a:srgbClr val="FFFFFF"/>
                </a:solidFill>
                <a:latin typeface="Calibri"/>
              </a:rPr>
              <a:t>app/static/style.css </a:t>
            </a:r>
            <a:r>
              <a:rPr sz="1200">
                <a:solidFill>
                  <a:srgbClr val="64748B"/>
                </a:solidFill>
                <a:latin typeface="Calibri"/>
              </a:rPr>
              <a:t>— design CSS complet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Dashboard Analytique — Interface Résultats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49039" cy="2468880"/>
          </a:xfrm>
          <a:prstGeom prst="rect">
            <a:avLst/>
          </a:prstGeom>
          <a:solidFill>
            <a:srgbClr val="24344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161288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📊  5 KPI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64592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Total clients analysés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Nombre de churners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Clients fidèles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Taux de churn %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Risque moyen 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51560"/>
            <a:ext cx="3749039" cy="2468880"/>
          </a:xfrm>
          <a:prstGeom prst="rect">
            <a:avLst/>
          </a:prstGeom>
          <a:solidFill>
            <a:srgbClr val="24344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1161288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🍩  Donut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64592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Répartition Fidèles vs Churners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Pourcentage par segment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0B981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Powered by Chart.js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051560"/>
            <a:ext cx="3749039" cy="2468880"/>
          </a:xfrm>
          <a:prstGeom prst="rect">
            <a:avLst/>
          </a:prstGeom>
          <a:solidFill>
            <a:srgbClr val="24344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1161288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🥧  Pie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164592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Critique (≥75%) · Élevé (50-75%)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Modéré (25-50%) · Faible (&lt;25%)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4 niveaux de risque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03320"/>
            <a:ext cx="3749039" cy="2468880"/>
          </a:xfrm>
          <a:prstGeom prst="rect">
            <a:avLst/>
          </a:prstGeom>
          <a:solidFill>
            <a:srgbClr val="24344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3813048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📉  Histogramme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29768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EF4444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Distribution des probabilités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EF4444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Tranches de 10% (0→100%)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EF4444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Coloré par niveau de risque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703320"/>
            <a:ext cx="3749039" cy="2468880"/>
          </a:xfrm>
          <a:prstGeom prst="rect">
            <a:avLst/>
          </a:prstGeom>
          <a:solidFill>
            <a:srgbClr val="24344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3813048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🔥  Top 10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29768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6366F1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Barres horizontales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6366F1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Clients prioritaires rétention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6366F1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Coloré rouge/orange/bleu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703320"/>
            <a:ext cx="3749039" cy="2468880"/>
          </a:xfrm>
          <a:prstGeom prst="rect">
            <a:avLst/>
          </a:prstGeom>
          <a:solidFill>
            <a:srgbClr val="243447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3813048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🔍  Tableau Interactif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29768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1">
                <a:solidFill>
                  <a:srgbClr val="64748B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Recherche par Client ID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64748B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Filtre Top 100 / Tous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64748B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Tri croissant / décroissant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E2D42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4747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Technologies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Stack technique · Résumé · Perspectives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Technologies &amp; Outils Utilisés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400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43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Langage principal du projet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051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7520" y="10515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82112" y="1143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pandas &amp;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Manipulation et analyse des données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051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105156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1143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Pipeline ML : modèles, encodeurs, scaler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51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1051560"/>
            <a:ext cx="64008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1143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imbalanced-learn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1508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SMOTE pour rééquilibrage des classes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94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194560"/>
            <a:ext cx="64008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joblib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Sérialisation des modèles (.pkl)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194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17520" y="21945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82112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Flask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Framework web Python pour déploiement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2194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0" y="2194560"/>
            <a:ext cx="6400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9592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59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Graphiques interactifs en JavaScript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194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12480" y="219456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77072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Jinja2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Moteur de templates HTML dynamiques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337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3337560"/>
            <a:ext cx="64008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Visualisations offline (confusion matrix)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3337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017520" y="33375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82112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seaborn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2112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Heatmaps, distributions, corrélations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3337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15000" y="3337560"/>
            <a:ext cx="64008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79592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9592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Rapport académique avec beamer ENIS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337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412480" y="3337560"/>
            <a:ext cx="64008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77072" y="3429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python-pptx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7072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Génération PowerPoint programmatique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480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44805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4632" y="4572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Git &amp; GitHub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" y="4937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4748B"/>
                </a:solidFill>
                <a:latin typeface="Calibri"/>
              </a:rPr>
              <a:t>Versioning et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dépôt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distant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480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17520" y="4480560"/>
            <a:ext cx="6400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82112" y="4572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VS Code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82112" y="4937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4748B"/>
                </a:solidFill>
                <a:latin typeface="Calibri"/>
              </a:rPr>
              <a:t>IDE principal de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développement</a:t>
            </a:r>
            <a:endParaRPr sz="10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715000" y="4480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715000" y="448056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879592" y="4572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Jupyter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79592" y="4937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Exploration interactive des données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4480560"/>
            <a:ext cx="2560320" cy="1005840"/>
          </a:xfrm>
          <a:prstGeom prst="rect">
            <a:avLst/>
          </a:prstGeom>
          <a:solidFill>
            <a:srgbClr val="243447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412480" y="4480560"/>
            <a:ext cx="64008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77072" y="4572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Virtual Env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77072" y="4937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Isolation des dépendances Python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✅  Bilan de la chaîne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Données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08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4 372 clients × 52 features  →  115 features après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Nettoyage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508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479 valeurs aberrantes corrigées · 4 colonnes supprimées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Encodage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OrdinalEncoder (5 features) + OneHotEncoder (nominales)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Équilibrage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SMOTE : 1 163 → 2 334 churners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Modèle final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6974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Random Forest — AUC-ROC = 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Déploiement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26974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Application Flask + dashboard interactif Chart.js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474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🚀  Perspectives d'amélioration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93192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Intégrer des données de navigation web (clickstream) pour enrichir le profil client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Déployer une API REST (FastAPI + Docker) pour prédiction en temps réel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Tester XGBoost, LightGBM et des architectures de deep learning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82F6"/>
                </a:solidFill>
                <a:latin typeface="Calibri"/>
              </a:rPr>
              <a:t>▸  </a:t>
            </a:r>
            <a:r>
              <a:rPr sz="1300">
                <a:solidFill>
                  <a:srgbClr val="FFFFFF"/>
                </a:solidFill>
                <a:latin typeface="Calibri"/>
              </a:rPr>
              <a:t>Mettre en place un monitoring du concept drift (Evidently AI)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577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💡  Impact métier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989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Identifier en temps réel les clients critiques (prob ≥ 75%) pour déclencher des actions de rétention ciblées et réduire le coût du churn.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7315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1E2D42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64748B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206240"/>
            <a:ext cx="3931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Mahmoud Elloumi  ·  GI2  ·  ENIS  ·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1882</Words>
  <Application>Microsoft Office PowerPoint</Application>
  <PresentationFormat>Personnalisé</PresentationFormat>
  <Paragraphs>457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Compte Microsoft</cp:lastModifiedBy>
  <cp:revision>3</cp:revision>
  <dcterms:created xsi:type="dcterms:W3CDTF">2013-01-27T09:14:16Z</dcterms:created>
  <dcterms:modified xsi:type="dcterms:W3CDTF">2026-04-18T00:50:00Z</dcterms:modified>
  <cp:category/>
</cp:coreProperties>
</file>